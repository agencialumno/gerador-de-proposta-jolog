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7556500" cy="10693400"/>
  <p:notesSz cx="6858000" cy="9144000"/>
  <p:embeddedFontLst>
    <p:embeddedFont>
      <p:font typeface="Garet" panose="020B0604020202020204" charset="0"/>
      <p:regular r:id="rId18"/>
    </p:embeddedFont>
    <p:embeddedFont>
      <p:font typeface="Garet Bold" panose="020B0604020202020204" charset="0"/>
      <p:regular r:id="rId19"/>
    </p:embeddedFont>
    <p:embeddedFont>
      <p:font typeface="Montserrat" panose="00000800000000000000" pitchFamily="50" charset="0"/>
      <p:regular r:id="rId20"/>
      <p:bold r:id="rId21"/>
    </p:embeddedFont>
    <p:embeddedFont>
      <p:font typeface="Montserrat Bold" panose="020B0604020202020204" charset="0"/>
      <p:regular r:id="rId22"/>
    </p:embeddedFont>
    <p:embeddedFont>
      <p:font typeface="Open Sauce" panose="020B0604020202020204" charset="0"/>
      <p:regular r:id="rId23"/>
    </p:embeddedFont>
    <p:embeddedFont>
      <p:font typeface="Open Sauce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2635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4.svg"/><Relationship Id="rId7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787076"/>
            <a:ext cx="7803775" cy="7210730"/>
          </a:xfrm>
          <a:custGeom>
            <a:avLst/>
            <a:gdLst/>
            <a:ahLst/>
            <a:cxnLst/>
            <a:rect l="l" t="t" r="r" b="b"/>
            <a:pathLst>
              <a:path w="7803775" h="7210730">
                <a:moveTo>
                  <a:pt x="0" y="0"/>
                </a:moveTo>
                <a:lnTo>
                  <a:pt x="7803775" y="0"/>
                </a:lnTo>
                <a:lnTo>
                  <a:pt x="7803775" y="7210730"/>
                </a:lnTo>
                <a:lnTo>
                  <a:pt x="0" y="72107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4515" b="-14515"/>
            </a:stretch>
          </a:blipFill>
        </p:spPr>
      </p:sp>
      <p:grpSp>
        <p:nvGrpSpPr>
          <p:cNvPr id="3" name="Group 3"/>
          <p:cNvGrpSpPr/>
          <p:nvPr/>
        </p:nvGrpSpPr>
        <p:grpSpPr>
          <a:xfrm rot="5890538">
            <a:off x="630822" y="4012760"/>
            <a:ext cx="6055573" cy="8908043"/>
            <a:chOff x="0" y="0"/>
            <a:chExt cx="2170181" cy="31924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170181" cy="3192441"/>
            </a:xfrm>
            <a:custGeom>
              <a:avLst/>
              <a:gdLst/>
              <a:ahLst/>
              <a:cxnLst/>
              <a:rect l="l" t="t" r="r" b="b"/>
              <a:pathLst>
                <a:path w="2170181" h="3192441">
                  <a:moveTo>
                    <a:pt x="0" y="0"/>
                  </a:moveTo>
                  <a:lnTo>
                    <a:pt x="2170181" y="0"/>
                  </a:lnTo>
                  <a:lnTo>
                    <a:pt x="2170181" y="3192441"/>
                  </a:lnTo>
                  <a:lnTo>
                    <a:pt x="0" y="3192441"/>
                  </a:lnTo>
                  <a:close/>
                </a:path>
              </a:pathLst>
            </a:custGeom>
            <a:solidFill>
              <a:srgbClr val="FFFFFF"/>
            </a:solidFill>
            <a:ln w="133350" cap="sq">
              <a:solidFill>
                <a:srgbClr val="AD0D3C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180975"/>
              <a:ext cx="2170181" cy="33734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37088" y="5763059"/>
            <a:ext cx="1266129" cy="1004865"/>
          </a:xfrm>
          <a:custGeom>
            <a:avLst/>
            <a:gdLst/>
            <a:ahLst/>
            <a:cxnLst/>
            <a:rect l="l" t="t" r="r" b="b"/>
            <a:pathLst>
              <a:path w="1266129" h="1004865">
                <a:moveTo>
                  <a:pt x="0" y="0"/>
                </a:moveTo>
                <a:lnTo>
                  <a:pt x="1266129" y="0"/>
                </a:lnTo>
                <a:lnTo>
                  <a:pt x="1266129" y="1004865"/>
                </a:lnTo>
                <a:lnTo>
                  <a:pt x="0" y="10048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 rot="-4818325">
            <a:off x="5602293" y="9011457"/>
            <a:ext cx="2268000" cy="1984500"/>
            <a:chOff x="0" y="0"/>
            <a:chExt cx="812800" cy="711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4000" y="9084391"/>
            <a:ext cx="3723691" cy="439923"/>
            <a:chOff x="0" y="0"/>
            <a:chExt cx="1334487" cy="15765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34487" cy="157659"/>
            </a:xfrm>
            <a:custGeom>
              <a:avLst/>
              <a:gdLst/>
              <a:ahLst/>
              <a:cxnLst/>
              <a:rect l="l" t="t" r="r" b="b"/>
              <a:pathLst>
                <a:path w="1334487" h="157659">
                  <a:moveTo>
                    <a:pt x="0" y="0"/>
                  </a:moveTo>
                  <a:lnTo>
                    <a:pt x="1334487" y="0"/>
                  </a:lnTo>
                  <a:lnTo>
                    <a:pt x="1334487" y="157659"/>
                  </a:lnTo>
                  <a:lnTo>
                    <a:pt x="0" y="157659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334487" cy="1862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498975">
            <a:off x="-1026767" y="5645349"/>
            <a:ext cx="9625340" cy="82649"/>
            <a:chOff x="0" y="0"/>
            <a:chExt cx="2709333" cy="232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709333" cy="23264"/>
            </a:xfrm>
            <a:custGeom>
              <a:avLst/>
              <a:gdLst/>
              <a:ahLst/>
              <a:cxnLst/>
              <a:rect l="l" t="t" r="r" b="b"/>
              <a:pathLst>
                <a:path w="2709333" h="23264">
                  <a:moveTo>
                    <a:pt x="0" y="0"/>
                  </a:moveTo>
                  <a:lnTo>
                    <a:pt x="2709333" y="0"/>
                  </a:lnTo>
                  <a:lnTo>
                    <a:pt x="2709333" y="23264"/>
                  </a:lnTo>
                  <a:lnTo>
                    <a:pt x="0" y="23264"/>
                  </a:lnTo>
                  <a:close/>
                </a:path>
              </a:pathLst>
            </a:custGeom>
            <a:solidFill>
              <a:srgbClr val="545454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2709333" cy="518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84000" y="7139426"/>
            <a:ext cx="5261951" cy="181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67"/>
              </a:lnSpc>
            </a:pPr>
            <a:r>
              <a:rPr lang="en-US" sz="7412" b="1">
                <a:solidFill>
                  <a:srgbClr val="54545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Proposta</a:t>
            </a:r>
          </a:p>
          <a:p>
            <a:pPr algn="l">
              <a:lnSpc>
                <a:spcPts val="6967"/>
              </a:lnSpc>
            </a:pPr>
            <a:r>
              <a:rPr lang="en-US" sz="7412" b="1">
                <a:solidFill>
                  <a:srgbClr val="54545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comercial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4991" y="9171003"/>
            <a:ext cx="4168558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6"/>
              </a:lnSpc>
            </a:pPr>
            <a:r>
              <a:rPr lang="en-US" sz="1763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Terceirização de mão de obra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8715" y="-195333"/>
            <a:ext cx="7933068" cy="4757164"/>
            <a:chOff x="0" y="0"/>
            <a:chExt cx="2843033" cy="17048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3033" cy="1704860"/>
            </a:xfrm>
            <a:custGeom>
              <a:avLst/>
              <a:gdLst/>
              <a:ahLst/>
              <a:cxnLst/>
              <a:rect l="l" t="t" r="r" b="b"/>
              <a:pathLst>
                <a:path w="2843033" h="1704860">
                  <a:moveTo>
                    <a:pt x="0" y="0"/>
                  </a:moveTo>
                  <a:lnTo>
                    <a:pt x="2843033" y="0"/>
                  </a:lnTo>
                  <a:lnTo>
                    <a:pt x="2843033" y="1704860"/>
                  </a:lnTo>
                  <a:lnTo>
                    <a:pt x="0" y="1704860"/>
                  </a:lnTo>
                  <a:close/>
                </a:path>
              </a:pathLst>
            </a:custGeom>
            <a:solidFill>
              <a:srgbClr val="AD0D3C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80975"/>
              <a:ext cx="2843033" cy="18858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18715" y="4519365"/>
            <a:ext cx="8002319" cy="2803469"/>
            <a:chOff x="0" y="0"/>
            <a:chExt cx="10669759" cy="3737959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2"/>
            <a:srcRect t="20230" b="27267"/>
            <a:stretch>
              <a:fillRect/>
            </a:stretch>
          </p:blipFill>
          <p:spPr>
            <a:xfrm>
              <a:off x="0" y="0"/>
              <a:ext cx="10669759" cy="3737959"/>
            </a:xfrm>
            <a:prstGeom prst="rect">
              <a:avLst/>
            </a:prstGeom>
          </p:spPr>
        </p:pic>
      </p:grpSp>
      <p:sp>
        <p:nvSpPr>
          <p:cNvPr id="7" name="AutoShape 7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 rot="-4818325">
            <a:off x="5781864" y="-838343"/>
            <a:ext cx="2268000" cy="1984500"/>
            <a:chOff x="0" y="0"/>
            <a:chExt cx="812800" cy="711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577850" y="75565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30250" y="8547100"/>
            <a:ext cx="6231676" cy="113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36"/>
              </a:lnSpc>
            </a:pP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Na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Jolog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acreditamos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que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processos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excelentes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só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funcionam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com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pessoas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engajadas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Nossa equipe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não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apenas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executa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tarefas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;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nós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"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vestimos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 camisa" de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cada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cliente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. Esse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empenho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se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traduz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uma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busca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incansável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pelo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melhor</a:t>
            </a:r>
            <a:r>
              <a:rPr lang="en-US" sz="12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2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resultado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onde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cada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colaborador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entende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seu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papel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estratégico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redução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desperdícios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entrega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uma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qualidade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que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supera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expectativas</a:t>
            </a:r>
            <a:r>
              <a:rPr lang="en-US" sz="12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70106" y="7708900"/>
            <a:ext cx="4504533" cy="562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Somos um </a:t>
            </a:r>
            <a:r>
              <a:rPr lang="en-US" sz="1788" b="1" dirty="0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time </a:t>
            </a:r>
            <a:r>
              <a:rPr lang="en-US" sz="1788" b="1" dirty="0" err="1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coeso</a:t>
            </a:r>
            <a:r>
              <a:rPr lang="en-US" sz="178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, </a:t>
            </a:r>
            <a:r>
              <a:rPr lang="en-US" sz="1788" b="1" dirty="0" err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motivado</a:t>
            </a:r>
            <a:r>
              <a:rPr lang="en-US" sz="178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pela </a:t>
            </a:r>
            <a:r>
              <a:rPr lang="en-US" sz="1788" b="1" dirty="0" err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excelência</a:t>
            </a:r>
            <a:r>
              <a:rPr lang="en-US" sz="178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e pela </a:t>
            </a:r>
            <a:r>
              <a:rPr lang="en-US" sz="1788" b="1" dirty="0" err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transparência</a:t>
            </a:r>
            <a:r>
              <a:rPr lang="en-US" sz="178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.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550053" y="10024205"/>
            <a:ext cx="17184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3763" y="610129"/>
            <a:ext cx="3581578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99"/>
              </a:lnSpc>
              <a:spcBef>
                <a:spcPct val="0"/>
              </a:spcBef>
            </a:pPr>
            <a:r>
              <a:rPr lang="en-US" sz="45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Sobre Nós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63763" y="1591204"/>
            <a:ext cx="6152101" cy="2750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Em um mercado altamente competitivo, a Jolog se destaca por oferecer soluções de apoio que unem tecnologia operacional e valorização humana. Nossa missão é otimizar processos e reduzir custos sem jamais abrir mão da qualidade. Praticamos uma parceria transparente, onde o desperdício não tem lugar e cada custo é discutido detalhadamente com o cliente. Estamos prontos para estender nossas relações comerciais e elevar o patamar da sua operação.</a:t>
            </a:r>
          </a:p>
          <a:p>
            <a:pPr algn="l">
              <a:lnSpc>
                <a:spcPts val="2240"/>
              </a:lnSpc>
              <a:spcBef>
                <a:spcPct val="0"/>
              </a:spcBef>
            </a:pPr>
            <a:endParaRPr lang="en-US" sz="1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2499" b="-12500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50053" y="10024205"/>
            <a:ext cx="171843" cy="562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000" y="643800"/>
            <a:ext cx="4400157" cy="1562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99"/>
              </a:lnSpc>
              <a:spcBef>
                <a:spcPct val="0"/>
              </a:spcBef>
            </a:pPr>
            <a:r>
              <a:rPr lang="en-US" sz="4500" b="1" spc="-126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- Do objeto da proposta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000" y="2852620"/>
            <a:ext cx="6048000" cy="16452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objeto central desta proposta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é a entrega de uma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prestação de serviços de qualidade nas dependências do condomínio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onde nossa equipe atua como um braço direito da contratante, priorizando a excelência e a organização operacional, garantindo o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melhor resultado possível para o condomínio.</a:t>
            </a:r>
          </a:p>
        </p:txBody>
      </p:sp>
      <p:grpSp>
        <p:nvGrpSpPr>
          <p:cNvPr id="12" name="Group 12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1921" y="-229951"/>
            <a:ext cx="7859942" cy="3352033"/>
            <a:chOff x="0" y="0"/>
            <a:chExt cx="10479923" cy="4469378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t="21603" b="21603"/>
            <a:stretch>
              <a:fillRect/>
            </a:stretch>
          </p:blipFill>
          <p:spPr>
            <a:xfrm>
              <a:off x="0" y="0"/>
              <a:ext cx="10479923" cy="4469378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4095762" y="3122083"/>
            <a:ext cx="3632259" cy="7772812"/>
            <a:chOff x="0" y="0"/>
            <a:chExt cx="1301719" cy="27856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01719" cy="2785601"/>
            </a:xfrm>
            <a:custGeom>
              <a:avLst/>
              <a:gdLst/>
              <a:ahLst/>
              <a:cxnLst/>
              <a:rect l="l" t="t" r="r" b="b"/>
              <a:pathLst>
                <a:path w="1301719" h="2785601">
                  <a:moveTo>
                    <a:pt x="0" y="0"/>
                  </a:moveTo>
                  <a:lnTo>
                    <a:pt x="1301719" y="0"/>
                  </a:lnTo>
                  <a:lnTo>
                    <a:pt x="1301719" y="2785601"/>
                  </a:lnTo>
                  <a:lnTo>
                    <a:pt x="0" y="2785601"/>
                  </a:lnTo>
                  <a:close/>
                </a:path>
              </a:pathLst>
            </a:custGeom>
            <a:solidFill>
              <a:srgbClr val="AD0D3C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180975"/>
              <a:ext cx="1301719" cy="29665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131921" y="8794449"/>
            <a:ext cx="4227684" cy="1141551"/>
            <a:chOff x="0" y="0"/>
            <a:chExt cx="1515106" cy="40910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515106" cy="409106"/>
            </a:xfrm>
            <a:custGeom>
              <a:avLst/>
              <a:gdLst/>
              <a:ahLst/>
              <a:cxnLst/>
              <a:rect l="l" t="t" r="r" b="b"/>
              <a:pathLst>
                <a:path w="1515106" h="409106">
                  <a:moveTo>
                    <a:pt x="0" y="0"/>
                  </a:moveTo>
                  <a:lnTo>
                    <a:pt x="1515106" y="0"/>
                  </a:lnTo>
                  <a:lnTo>
                    <a:pt x="1515106" y="409106"/>
                  </a:lnTo>
                  <a:lnTo>
                    <a:pt x="0" y="409106"/>
                  </a:lnTo>
                  <a:close/>
                </a:path>
              </a:pathLst>
            </a:custGeom>
            <a:solidFill>
              <a:srgbClr val="545454"/>
            </a:solidFill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180975"/>
              <a:ext cx="1515106" cy="5900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4764692" y="7713557"/>
            <a:ext cx="451982" cy="446230"/>
          </a:xfrm>
          <a:custGeom>
            <a:avLst/>
            <a:gdLst/>
            <a:ahLst/>
            <a:cxnLst/>
            <a:rect l="l" t="t" r="r" b="b"/>
            <a:pathLst>
              <a:path w="451982" h="446230">
                <a:moveTo>
                  <a:pt x="0" y="0"/>
                </a:moveTo>
                <a:lnTo>
                  <a:pt x="451982" y="0"/>
                </a:lnTo>
                <a:lnTo>
                  <a:pt x="451982" y="446229"/>
                </a:lnTo>
                <a:lnTo>
                  <a:pt x="0" y="4462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74883" y="3549676"/>
            <a:ext cx="360168" cy="445339"/>
          </a:xfrm>
          <a:custGeom>
            <a:avLst/>
            <a:gdLst/>
            <a:ahLst/>
            <a:cxnLst/>
            <a:rect l="l" t="t" r="r" b="b"/>
            <a:pathLst>
              <a:path w="360168" h="445339">
                <a:moveTo>
                  <a:pt x="0" y="0"/>
                </a:moveTo>
                <a:lnTo>
                  <a:pt x="360168" y="0"/>
                </a:lnTo>
                <a:lnTo>
                  <a:pt x="360168" y="445339"/>
                </a:lnTo>
                <a:lnTo>
                  <a:pt x="0" y="4453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793988" y="5737706"/>
            <a:ext cx="362691" cy="492111"/>
          </a:xfrm>
          <a:custGeom>
            <a:avLst/>
            <a:gdLst/>
            <a:ahLst/>
            <a:cxnLst/>
            <a:rect l="l" t="t" r="r" b="b"/>
            <a:pathLst>
              <a:path w="362691" h="492111">
                <a:moveTo>
                  <a:pt x="0" y="0"/>
                </a:moveTo>
                <a:lnTo>
                  <a:pt x="362691" y="0"/>
                </a:lnTo>
                <a:lnTo>
                  <a:pt x="362691" y="492111"/>
                </a:lnTo>
                <a:lnTo>
                  <a:pt x="0" y="4921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764692" y="4505806"/>
            <a:ext cx="2003308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Vínculo empregatício integral com a nossa empresa, isentando o contratante de riscos laborais.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4764692" y="4094166"/>
            <a:ext cx="2003308" cy="325915"/>
            <a:chOff x="0" y="0"/>
            <a:chExt cx="806859" cy="13126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06859" cy="131266"/>
            </a:xfrm>
            <a:custGeom>
              <a:avLst/>
              <a:gdLst/>
              <a:ahLst/>
              <a:cxnLst/>
              <a:rect l="l" t="t" r="r" b="b"/>
              <a:pathLst>
                <a:path w="806859" h="131266">
                  <a:moveTo>
                    <a:pt x="0" y="0"/>
                  </a:moveTo>
                  <a:lnTo>
                    <a:pt x="806859" y="0"/>
                  </a:lnTo>
                  <a:lnTo>
                    <a:pt x="806859" y="131266"/>
                  </a:lnTo>
                  <a:lnTo>
                    <a:pt x="0" y="131266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180975"/>
              <a:ext cx="806859" cy="312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764692" y="6341314"/>
            <a:ext cx="1560471" cy="325915"/>
            <a:chOff x="0" y="0"/>
            <a:chExt cx="628500" cy="13126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28500" cy="131266"/>
            </a:xfrm>
            <a:custGeom>
              <a:avLst/>
              <a:gdLst/>
              <a:ahLst/>
              <a:cxnLst/>
              <a:rect l="l" t="t" r="r" b="b"/>
              <a:pathLst>
                <a:path w="628500" h="131266">
                  <a:moveTo>
                    <a:pt x="0" y="0"/>
                  </a:moveTo>
                  <a:lnTo>
                    <a:pt x="628500" y="0"/>
                  </a:lnTo>
                  <a:lnTo>
                    <a:pt x="628500" y="131266"/>
                  </a:lnTo>
                  <a:lnTo>
                    <a:pt x="0" y="131266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180975"/>
              <a:ext cx="628500" cy="312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764692" y="8273353"/>
            <a:ext cx="1147200" cy="325915"/>
            <a:chOff x="0" y="0"/>
            <a:chExt cx="462050" cy="1312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62050" cy="131266"/>
            </a:xfrm>
            <a:custGeom>
              <a:avLst/>
              <a:gdLst/>
              <a:ahLst/>
              <a:cxnLst/>
              <a:rect l="l" t="t" r="r" b="b"/>
              <a:pathLst>
                <a:path w="462050" h="131266">
                  <a:moveTo>
                    <a:pt x="0" y="0"/>
                  </a:moveTo>
                  <a:lnTo>
                    <a:pt x="462050" y="0"/>
                  </a:lnTo>
                  <a:lnTo>
                    <a:pt x="462050" y="131266"/>
                  </a:lnTo>
                  <a:lnTo>
                    <a:pt x="0" y="131266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180975"/>
              <a:ext cx="462050" cy="312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4875077" y="4106270"/>
            <a:ext cx="1782537" cy="25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7"/>
              </a:lnSpc>
            </a:pPr>
            <a:r>
              <a:rPr lang="en-US" sz="1477" b="1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Segurança Jurídica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875077" y="6353418"/>
            <a:ext cx="1782537" cy="25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7"/>
              </a:lnSpc>
            </a:pPr>
            <a:r>
              <a:rPr lang="en-US" sz="1477" b="1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Padronização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875077" y="8285457"/>
            <a:ext cx="984087" cy="25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7"/>
              </a:lnSpc>
            </a:pPr>
            <a:r>
              <a:rPr lang="en-US" sz="1477" b="1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Expertise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23063" y="3390470"/>
            <a:ext cx="4400157" cy="1562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1" spc="-184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II - Mão </a:t>
            </a:r>
          </a:p>
          <a:p>
            <a:pPr algn="l">
              <a:lnSpc>
                <a:spcPts val="6299"/>
              </a:lnSpc>
              <a:spcBef>
                <a:spcPct val="0"/>
              </a:spcBef>
            </a:pPr>
            <a:r>
              <a:rPr lang="en-US" sz="4500" b="1" spc="-184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 obra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23063" y="5462713"/>
            <a:ext cx="3156937" cy="24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Na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Jolog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a qualidade do serviço começa na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escolha das pessoas. </a:t>
            </a:r>
          </a:p>
          <a:p>
            <a:pPr algn="l">
              <a:lnSpc>
                <a:spcPts val="2240"/>
              </a:lnSpc>
            </a:pPr>
            <a:endParaRPr lang="en-US" sz="1600" b="1">
              <a:solidFill>
                <a:srgbClr val="AD0D3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Nossos profissionais passam por um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processo rigoroso de recrutamento e seleção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para garantir total aptidão às funções desempenhadas.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23063" y="9019147"/>
            <a:ext cx="3016531" cy="654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5"/>
              </a:lnSpc>
              <a:spcBef>
                <a:spcPct val="0"/>
              </a:spcBef>
            </a:pPr>
            <a:r>
              <a:rPr lang="en-US" sz="1925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Excelência operacional </a:t>
            </a:r>
          </a:p>
          <a:p>
            <a:pPr algn="l">
              <a:lnSpc>
                <a:spcPts val="2695"/>
              </a:lnSpc>
              <a:spcBef>
                <a:spcPct val="0"/>
              </a:spcBef>
            </a:pPr>
            <a:r>
              <a:rPr lang="en-US" sz="1925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que transforma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764692" y="6710752"/>
            <a:ext cx="2003308" cy="346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Equipe sempre uniformizada, identificada e apresentável.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764692" y="8638689"/>
            <a:ext cx="2003308" cy="517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Funcionários preparados para atuar com eficiência e discrição no ambiente do cliente.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6550053" y="10024205"/>
            <a:ext cx="17184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8300" b="-62174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50053" y="10024205"/>
            <a:ext cx="17184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000" y="653325"/>
            <a:ext cx="3698870" cy="131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 b="1" spc="-105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prestados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000" y="2371825"/>
            <a:ext cx="4400157" cy="488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 spc="-8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Assist. Administrativo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6000" y="3045113"/>
            <a:ext cx="6048000" cy="16452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assistente administrativo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é responsável por gerenciar o fluxo de documentos e correspondências, controlar as contas a pagar e manter as agendas sempre atualizadas. Além disso, realiza atendimento telefônico, responde e-mails e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presta suporte ao público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utilizando sistemas e equipamentos de escritório no dia a dia.</a:t>
            </a:r>
          </a:p>
        </p:txBody>
      </p:sp>
      <p:grpSp>
        <p:nvGrpSpPr>
          <p:cNvPr id="13" name="Group 13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415" b="-241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50053" y="10024205"/>
            <a:ext cx="17184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grpSp>
        <p:nvGrpSpPr>
          <p:cNvPr id="10" name="Group 10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6000" y="653325"/>
            <a:ext cx="3698870" cy="131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 b="1" spc="-105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prestados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000" y="2371825"/>
            <a:ext cx="4400157" cy="488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 spc="-8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Aux. de Serviços Gerais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000" y="3045113"/>
            <a:ext cx="6048000" cy="16452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rotina desse profissional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envolve a limpeza e a conservação do ambiente em que atua,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garantindo a higiene,</a:t>
            </a:r>
            <a:r>
              <a:rPr lang="en-US" sz="1600" b="1">
                <a:solidFill>
                  <a:srgbClr val="54545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organização e bem-estar de todos. Entre suas atividades estão a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higienização de superfícies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coleta de resíduos e reposição de materiais, sempre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mantendo o espaço limpo, seguro e agradável.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415" b="-241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50053" y="10024205"/>
            <a:ext cx="134541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grpSp>
        <p:nvGrpSpPr>
          <p:cNvPr id="10" name="Group 10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6000" y="653325"/>
            <a:ext cx="3698870" cy="131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 b="1" spc="-105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prestados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000" y="2371825"/>
            <a:ext cx="4400157" cy="488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 spc="-8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Portaria 24h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000" y="2973113"/>
            <a:ext cx="6048000" cy="1921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 porteiro tem como função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organizar e supervisionar o acesso de pessoas e veículos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realizando a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identificação de visitantes e encaminhando-os corretamente.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Também é responsável por controlar a circulação após a devida confirmação de identidade, receber e separar correspondências e atender o interfone para se comunicar com moradores ou responsáveis pelo local.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415" b="-241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50053" y="10024205"/>
            <a:ext cx="17184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grpSp>
        <p:nvGrpSpPr>
          <p:cNvPr id="10" name="Group 10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6000" y="653325"/>
            <a:ext cx="3698870" cy="131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 b="1" spc="-105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prestados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000" y="2371825"/>
            <a:ext cx="4400157" cy="488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 spc="-8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Vigia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000" y="2973113"/>
            <a:ext cx="6048000" cy="21977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vigia deve informar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ao síndico ou à administração do condomínio sobre quaisquer ocorrências ou reclamações registradas durante seu turno.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Também precisa zelar pelo bom funcionamento das áreas comuns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mantendo-se atento a possíveis situações de risco e acionando o zelador, o síndico ou a administração sempre que houver necessidade.</a:t>
            </a:r>
          </a:p>
          <a:p>
            <a:pPr algn="l">
              <a:lnSpc>
                <a:spcPts val="2240"/>
              </a:lnSpc>
            </a:pPr>
            <a:endParaRPr lang="en-US" sz="1600">
              <a:solidFill>
                <a:srgbClr val="54545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415" b="-241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50053" y="10024205"/>
            <a:ext cx="17184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grpSp>
        <p:nvGrpSpPr>
          <p:cNvPr id="10" name="Group 10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6000" y="653325"/>
            <a:ext cx="3698870" cy="131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 b="1" spc="-105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prestados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000" y="2217432"/>
            <a:ext cx="4400157" cy="488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 spc="-8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Manutenção Predial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000" y="2818720"/>
            <a:ext cx="6048000" cy="21977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Faz parte das atribuições do oficial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executar serviços de instalação e manutenção nas áreas hidráulica, mecânica e sanitária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atuando em equipamentos, máquinas e mobiliários. Também é responsável por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controlar, transportar e armazenar materiais,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realizar medições, conduzir veículos para deslocamento de equipes ou equipamentos, além de desempenhar outras atividades compatíveis com o cargo.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5174178"/>
            <a:ext cx="7560000" cy="4029480"/>
          </a:xfrm>
          <a:custGeom>
            <a:avLst/>
            <a:gdLst/>
            <a:ahLst/>
            <a:cxnLst/>
            <a:rect l="l" t="t" r="r" b="b"/>
            <a:pathLst>
              <a:path w="7560000" h="4029480">
                <a:moveTo>
                  <a:pt x="0" y="0"/>
                </a:moveTo>
                <a:lnTo>
                  <a:pt x="7560000" y="0"/>
                </a:lnTo>
                <a:lnTo>
                  <a:pt x="7560000" y="4029480"/>
                </a:lnTo>
                <a:lnTo>
                  <a:pt x="0" y="40294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415" b="-241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478053" y="10024205"/>
            <a:ext cx="29776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grpSp>
        <p:nvGrpSpPr>
          <p:cNvPr id="10" name="Group 10"/>
          <p:cNvGrpSpPr/>
          <p:nvPr/>
        </p:nvGrpSpPr>
        <p:grpSpPr>
          <a:xfrm rot="-4818325">
            <a:off x="5978035" y="4353750"/>
            <a:ext cx="2268000" cy="1984500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1995762">
            <a:off x="-1330709" y="7995174"/>
            <a:ext cx="2268000" cy="198450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6000" y="653325"/>
            <a:ext cx="3698870" cy="131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 b="1" spc="-105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Serviços prestados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000" y="2217432"/>
            <a:ext cx="4400157" cy="488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 spc="-8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Jardinagem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000" y="2818720"/>
            <a:ext cx="6048000" cy="2234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jardineiro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é o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profissional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encarregado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conservação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do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cuidado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áreas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verdes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residências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edifícios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empresas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condomínios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. Suas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atividades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incluem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aparar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irrigar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a grama,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cuidar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canteiros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realizar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o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plantio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sementes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mudas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podar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plantas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aplicar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fertilizantes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defensivos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utilizar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ferramentas 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equipamentos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jardinagem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além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500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zelar</a:t>
            </a:r>
            <a:r>
              <a:rPr lang="en-US" sz="1500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pela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limpeza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organização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jardim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dos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materiais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1500" b="1" dirty="0" err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trabalho</a:t>
            </a:r>
            <a:r>
              <a:rPr lang="en-US" sz="1500" b="1" dirty="0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3590" y="2430588"/>
            <a:ext cx="7957146" cy="8358572"/>
            <a:chOff x="0" y="0"/>
            <a:chExt cx="2851662" cy="29955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51662" cy="2995524"/>
            </a:xfrm>
            <a:custGeom>
              <a:avLst/>
              <a:gdLst/>
              <a:ahLst/>
              <a:cxnLst/>
              <a:rect l="l" t="t" r="r" b="b"/>
              <a:pathLst>
                <a:path w="2851662" h="2995524">
                  <a:moveTo>
                    <a:pt x="0" y="0"/>
                  </a:moveTo>
                  <a:lnTo>
                    <a:pt x="2851662" y="0"/>
                  </a:lnTo>
                  <a:lnTo>
                    <a:pt x="2851662" y="2995524"/>
                  </a:lnTo>
                  <a:lnTo>
                    <a:pt x="0" y="2995524"/>
                  </a:lnTo>
                  <a:close/>
                </a:path>
              </a:pathLst>
            </a:custGeom>
            <a:solidFill>
              <a:srgbClr val="B4B4B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851662" cy="30240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07318" y="2536547"/>
            <a:ext cx="7957146" cy="8358572"/>
            <a:chOff x="0" y="0"/>
            <a:chExt cx="2851662" cy="29955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51662" cy="2995524"/>
            </a:xfrm>
            <a:custGeom>
              <a:avLst/>
              <a:gdLst/>
              <a:ahLst/>
              <a:cxnLst/>
              <a:rect l="l" t="t" r="r" b="b"/>
              <a:pathLst>
                <a:path w="2851662" h="2995524">
                  <a:moveTo>
                    <a:pt x="0" y="0"/>
                  </a:moveTo>
                  <a:lnTo>
                    <a:pt x="2851662" y="0"/>
                  </a:lnTo>
                  <a:lnTo>
                    <a:pt x="2851662" y="2995524"/>
                  </a:lnTo>
                  <a:lnTo>
                    <a:pt x="0" y="2995524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2851662" cy="30240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55792" y="3290513"/>
            <a:ext cx="2869017" cy="2051495"/>
            <a:chOff x="0" y="0"/>
            <a:chExt cx="3825356" cy="2735327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2"/>
            <a:srcRect l="11096" r="11096"/>
            <a:stretch>
              <a:fillRect/>
            </a:stretch>
          </p:blipFill>
          <p:spPr>
            <a:xfrm>
              <a:off x="0" y="0"/>
              <a:ext cx="3825356" cy="2735327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755792" y="6810131"/>
            <a:ext cx="2869017" cy="2051495"/>
            <a:chOff x="0" y="0"/>
            <a:chExt cx="3825356" cy="2735327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3"/>
            <a:srcRect l="11096" r="11096"/>
            <a:stretch>
              <a:fillRect/>
            </a:stretch>
          </p:blipFill>
          <p:spPr>
            <a:xfrm>
              <a:off x="0" y="0"/>
              <a:ext cx="3825356" cy="2735327"/>
            </a:xfrm>
            <a:prstGeom prst="rect">
              <a:avLst/>
            </a:prstGeom>
          </p:spPr>
        </p:pic>
      </p:grpSp>
      <p:grpSp>
        <p:nvGrpSpPr>
          <p:cNvPr id="12" name="Group 12"/>
          <p:cNvGrpSpPr/>
          <p:nvPr/>
        </p:nvGrpSpPr>
        <p:grpSpPr>
          <a:xfrm>
            <a:off x="3934983" y="3290513"/>
            <a:ext cx="2869017" cy="2051495"/>
            <a:chOff x="0" y="0"/>
            <a:chExt cx="3825356" cy="2735327"/>
          </a:xfrm>
        </p:grpSpPr>
        <p:pic>
          <p:nvPicPr>
            <p:cNvPr id="13" name="Picture 13"/>
            <p:cNvPicPr>
              <a:picLocks noChangeAspect="1"/>
            </p:cNvPicPr>
            <p:nvPr/>
          </p:nvPicPr>
          <p:blipFill>
            <a:blip r:embed="rId4"/>
            <a:srcRect l="10929" r="10929"/>
            <a:stretch>
              <a:fillRect/>
            </a:stretch>
          </p:blipFill>
          <p:spPr>
            <a:xfrm>
              <a:off x="0" y="0"/>
              <a:ext cx="3825356" cy="2735327"/>
            </a:xfrm>
            <a:prstGeom prst="rect">
              <a:avLst/>
            </a:prstGeom>
          </p:spPr>
        </p:pic>
      </p:grpSp>
      <p:grpSp>
        <p:nvGrpSpPr>
          <p:cNvPr id="14" name="Group 14"/>
          <p:cNvGrpSpPr/>
          <p:nvPr/>
        </p:nvGrpSpPr>
        <p:grpSpPr>
          <a:xfrm>
            <a:off x="3934983" y="6810131"/>
            <a:ext cx="2869017" cy="2051495"/>
            <a:chOff x="0" y="0"/>
            <a:chExt cx="3825356" cy="2735327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r:embed="rId5"/>
            <a:srcRect l="11096" r="11096"/>
            <a:stretch>
              <a:fillRect/>
            </a:stretch>
          </p:blipFill>
          <p:spPr>
            <a:xfrm>
              <a:off x="0" y="0"/>
              <a:ext cx="3825356" cy="2735327"/>
            </a:xfrm>
            <a:prstGeom prst="rect">
              <a:avLst/>
            </a:prstGeom>
          </p:spPr>
        </p:pic>
      </p:grpSp>
      <p:sp>
        <p:nvSpPr>
          <p:cNvPr id="16" name="AutoShape 16"/>
          <p:cNvSpPr/>
          <p:nvPr/>
        </p:nvSpPr>
        <p:spPr>
          <a:xfrm>
            <a:off x="763763" y="5880170"/>
            <a:ext cx="205751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>
            <a:off x="756000" y="9433098"/>
            <a:ext cx="175420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>
            <a:off x="3942954" y="5880170"/>
            <a:ext cx="1703735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9" name="AutoShape 19"/>
          <p:cNvSpPr/>
          <p:nvPr/>
        </p:nvSpPr>
        <p:spPr>
          <a:xfrm>
            <a:off x="3950208" y="9437860"/>
            <a:ext cx="1514393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TextBox 20"/>
          <p:cNvSpPr txBox="1"/>
          <p:nvPr/>
        </p:nvSpPr>
        <p:spPr>
          <a:xfrm>
            <a:off x="756000" y="756742"/>
            <a:ext cx="5005997" cy="605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680"/>
              </a:lnSpc>
            </a:pPr>
            <a:r>
              <a:rPr lang="en-US" sz="45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Nossos Clientes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71016" y="5503933"/>
            <a:ext cx="2050257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Flora de Jacarépaguá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3254" y="9023552"/>
            <a:ext cx="1900150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Completo Piedade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950208" y="5503933"/>
            <a:ext cx="1696481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Dez Jacarépaguá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957462" y="9023552"/>
            <a:ext cx="1696481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Paris Business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5792" y="6025352"/>
            <a:ext cx="2495236" cy="50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Estrada Campo da Areia, 1205, Tanque, Rio de Janeiro</a:t>
            </a:r>
          </a:p>
          <a:p>
            <a:pPr algn="l">
              <a:lnSpc>
                <a:spcPts val="1399"/>
              </a:lnSpc>
            </a:pPr>
            <a:endParaRPr lang="en-US" sz="999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763763" y="9576527"/>
            <a:ext cx="2495236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R. Assis Carneiro, 80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942954" y="6023600"/>
            <a:ext cx="2495236" cy="33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Estr. do Engenho d'Água, 687 - Anil, Rio de Janeiro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942954" y="9581290"/>
            <a:ext cx="2495236" cy="33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R. Fonseca Teles, 145 - Imperial de São Cristóvão, Rio de Janeiro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63763" y="1481939"/>
            <a:ext cx="6048000" cy="445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36"/>
              </a:lnSpc>
            </a:pPr>
            <a:r>
              <a:rPr lang="en-US" sz="12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Apresentamos abaixo alguns clientes atendidos pela Jolog, </a:t>
            </a:r>
          </a:p>
          <a:p>
            <a:pPr algn="l">
              <a:lnSpc>
                <a:spcPts val="1836"/>
              </a:lnSpc>
            </a:pPr>
            <a:r>
              <a:rPr lang="en-US" sz="12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reforçando nossa experiência no setor: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6478053" y="10024205"/>
            <a:ext cx="29776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AD0D3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1921" y="-229951"/>
            <a:ext cx="7859942" cy="3352033"/>
            <a:chOff x="0" y="0"/>
            <a:chExt cx="10479923" cy="4469378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t="28131" b="7918"/>
            <a:stretch>
              <a:fillRect/>
            </a:stretch>
          </p:blipFill>
          <p:spPr>
            <a:xfrm>
              <a:off x="0" y="0"/>
              <a:ext cx="10479923" cy="4469378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7037992" y="2919188"/>
            <a:ext cx="3632259" cy="7772812"/>
            <a:chOff x="0" y="0"/>
            <a:chExt cx="1301719" cy="27856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01719" cy="2785601"/>
            </a:xfrm>
            <a:custGeom>
              <a:avLst/>
              <a:gdLst/>
              <a:ahLst/>
              <a:cxnLst/>
              <a:rect l="l" t="t" r="r" b="b"/>
              <a:pathLst>
                <a:path w="1301719" h="2785601">
                  <a:moveTo>
                    <a:pt x="0" y="0"/>
                  </a:moveTo>
                  <a:lnTo>
                    <a:pt x="1301719" y="0"/>
                  </a:lnTo>
                  <a:lnTo>
                    <a:pt x="1301719" y="2785601"/>
                  </a:lnTo>
                  <a:lnTo>
                    <a:pt x="0" y="2785601"/>
                  </a:lnTo>
                  <a:close/>
                </a:path>
              </a:pathLst>
            </a:custGeom>
            <a:solidFill>
              <a:srgbClr val="AD0D3C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180975"/>
              <a:ext cx="1301719" cy="29665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0" name="AutoShape 10"/>
          <p:cNvSpPr/>
          <p:nvPr/>
        </p:nvSpPr>
        <p:spPr>
          <a:xfrm>
            <a:off x="474920" y="9940985"/>
            <a:ext cx="630089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679730" y="3131365"/>
            <a:ext cx="4400157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 spc="-164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IV - Do Preço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88382" y="3782240"/>
            <a:ext cx="6183236" cy="1092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Pelos serviços prestados ao Condomínio, será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cobrado o valor mensal abaixo:</a:t>
            </a:r>
          </a:p>
          <a:p>
            <a:pPr algn="l">
              <a:lnSpc>
                <a:spcPts val="2240"/>
              </a:lnSpc>
            </a:pPr>
            <a:endParaRPr lang="en-US" sz="1600" b="1">
              <a:solidFill>
                <a:srgbClr val="AD0D3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2240"/>
              </a:lnSpc>
            </a:pPr>
            <a:endParaRPr lang="en-US" sz="1600" b="1">
              <a:solidFill>
                <a:srgbClr val="AD0D3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478053" y="10024205"/>
            <a:ext cx="29776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74920" y="10019243"/>
            <a:ext cx="1757836" cy="17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5"/>
              </a:lnSpc>
              <a:spcBef>
                <a:spcPct val="0"/>
              </a:spcBef>
            </a:pPr>
            <a:r>
              <a:rPr lang="en-US" sz="10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9730" y="7918221"/>
            <a:ext cx="6183236" cy="26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Proposta já com o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dissídio 2026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88382" y="4640399"/>
          <a:ext cx="6048000" cy="29031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8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Função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AD0D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Quantidade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AD0D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Valores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AD0D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5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545454"/>
                          </a:solidFill>
                          <a:latin typeface="Montserrat"/>
                        </a:rPr>
                        <a:t>PORTEIROS DIURNOS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R$ 9.788,28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5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545454"/>
                          </a:solidFill>
                          <a:latin typeface="Montserrat"/>
                        </a:rPr>
                        <a:t>PORTEIROS NOTURNOS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R$ 11.369,43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85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545454"/>
                          </a:solidFill>
                          <a:latin typeface="Montserrat"/>
                        </a:rPr>
                        <a:t>AUX DE SERVIÇOS GERAIS 6X1 S/INSAL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R$ 25.441,44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85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545454"/>
                          </a:solidFill>
                          <a:latin typeface="Montserrat"/>
                        </a:rPr>
                        <a:t>ASSISTENTE ADMINI 6X1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45454"/>
                          </a:solidFill>
                          <a:latin typeface="Montserrat"/>
                        </a:rPr>
                        <a:t>R$ 11.318,01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38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Total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AD0D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AD0D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R$ 57.917,16</a:t>
                      </a:r>
                    </a:p>
                  </a:txBody>
                  <a:tcPr anchor="ctr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AD0D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8715" y="-195333"/>
            <a:ext cx="7933068" cy="4757164"/>
            <a:chOff x="0" y="0"/>
            <a:chExt cx="2843033" cy="17048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3033" cy="1704860"/>
            </a:xfrm>
            <a:custGeom>
              <a:avLst/>
              <a:gdLst/>
              <a:ahLst/>
              <a:cxnLst/>
              <a:rect l="l" t="t" r="r" b="b"/>
              <a:pathLst>
                <a:path w="2843033" h="1704860">
                  <a:moveTo>
                    <a:pt x="0" y="0"/>
                  </a:moveTo>
                  <a:lnTo>
                    <a:pt x="2843033" y="0"/>
                  </a:lnTo>
                  <a:lnTo>
                    <a:pt x="2843033" y="1704860"/>
                  </a:lnTo>
                  <a:lnTo>
                    <a:pt x="0" y="1704860"/>
                  </a:lnTo>
                  <a:close/>
                </a:path>
              </a:pathLst>
            </a:custGeom>
            <a:solidFill>
              <a:srgbClr val="AD0D3C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80975"/>
              <a:ext cx="2843033" cy="18858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18715" y="4519365"/>
            <a:ext cx="8002319" cy="4834185"/>
            <a:chOff x="0" y="0"/>
            <a:chExt cx="10669759" cy="6445580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2"/>
            <a:srcRect t="4692" b="4692"/>
            <a:stretch>
              <a:fillRect/>
            </a:stretch>
          </p:blipFill>
          <p:spPr>
            <a:xfrm>
              <a:off x="0" y="0"/>
              <a:ext cx="10669759" cy="6445580"/>
            </a:xfrm>
            <a:prstGeom prst="rect">
              <a:avLst/>
            </a:prstGeom>
          </p:spPr>
        </p:pic>
      </p:grpSp>
      <p:sp>
        <p:nvSpPr>
          <p:cNvPr id="7" name="AutoShape 7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 rot="-4818325">
            <a:off x="5781864" y="-838343"/>
            <a:ext cx="2268000" cy="1984500"/>
            <a:chOff x="0" y="0"/>
            <a:chExt cx="812800" cy="711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127000" y="301625"/>
              <a:ext cx="558800" cy="358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6478053" y="10024205"/>
            <a:ext cx="29776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00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06394" y="1684488"/>
            <a:ext cx="6152101" cy="24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Nos valores ora ofertados, já estão contempladas todas as despesas inerentes à prestação dos serviços, bem como: encargos sociais, trabalhistas e previdenciários; remuneração dos funcionários, EPI’s, uniformes, recrutamento, seleção e treinamento de pessoal; benefícios (vale transporte, ticket refeição - R$ 27,00 /Dia), Plano Odontológico e Ambulatorial, conforme convenção coletiva da categoria; impostos, taxas federais, estaduais, municipais.</a:t>
            </a:r>
          </a:p>
          <a:p>
            <a:pPr algn="l">
              <a:lnSpc>
                <a:spcPts val="2240"/>
              </a:lnSpc>
              <a:spcBef>
                <a:spcPct val="0"/>
              </a:spcBef>
            </a:pPr>
            <a:endParaRPr lang="en-US" sz="1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56000" y="679800"/>
            <a:ext cx="4400157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 spc="-164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IV - Do Preço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1921" y="-229951"/>
            <a:ext cx="7859942" cy="3352033"/>
            <a:chOff x="0" y="0"/>
            <a:chExt cx="10479923" cy="4469378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t="18014" b="18014"/>
            <a:stretch>
              <a:fillRect/>
            </a:stretch>
          </p:blipFill>
          <p:spPr>
            <a:xfrm>
              <a:off x="0" y="0"/>
              <a:ext cx="10479923" cy="4469378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6965252" y="3122083"/>
            <a:ext cx="3632259" cy="7772812"/>
            <a:chOff x="0" y="0"/>
            <a:chExt cx="1301719" cy="27856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01719" cy="2785601"/>
            </a:xfrm>
            <a:custGeom>
              <a:avLst/>
              <a:gdLst/>
              <a:ahLst/>
              <a:cxnLst/>
              <a:rect l="l" t="t" r="r" b="b"/>
              <a:pathLst>
                <a:path w="1301719" h="2785601">
                  <a:moveTo>
                    <a:pt x="0" y="0"/>
                  </a:moveTo>
                  <a:lnTo>
                    <a:pt x="1301719" y="0"/>
                  </a:lnTo>
                  <a:lnTo>
                    <a:pt x="1301719" y="2785601"/>
                  </a:lnTo>
                  <a:lnTo>
                    <a:pt x="0" y="2785601"/>
                  </a:lnTo>
                  <a:close/>
                </a:path>
              </a:pathLst>
            </a:custGeom>
            <a:solidFill>
              <a:srgbClr val="AD0D3C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180975"/>
              <a:ext cx="1301719" cy="29665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474920" y="3514068"/>
            <a:ext cx="6003133" cy="597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85"/>
              </a:lnSpc>
              <a:spcBef>
                <a:spcPct val="0"/>
              </a:spcBef>
            </a:pPr>
            <a:r>
              <a:rPr lang="en-US" sz="3489" b="1" spc="-143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 - Do Prazo da execução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4920" y="5456704"/>
            <a:ext cx="6003133" cy="1216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1"/>
              </a:lnSpc>
              <a:spcBef>
                <a:spcPct val="0"/>
              </a:spcBef>
            </a:pPr>
            <a:r>
              <a:rPr lang="en-US" sz="3494" b="1" spc="-143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 - Da condição de faturamento e pagamento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4920" y="4394546"/>
            <a:ext cx="6031468" cy="1092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Nossa proposta prevê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duração mínima contratual, de 12 (doze) meses, 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 contar da data de implantação dos serviços.</a:t>
            </a:r>
          </a:p>
          <a:p>
            <a:pPr algn="l">
              <a:lnSpc>
                <a:spcPts val="2240"/>
              </a:lnSpc>
            </a:pPr>
            <a:endParaRPr lang="en-US" sz="1600">
              <a:solidFill>
                <a:srgbClr val="54545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74920" y="6958631"/>
            <a:ext cx="6031468" cy="1369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 emissão da nota fiscal/fatura será realizada pelo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Departamento Financeiro a partir do 30º (trigésimo) dia de cada mês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quando V. Sas. terão até o 5º (Quinto) dia do mês subsequente, para efetuar o pagamento.</a:t>
            </a:r>
          </a:p>
          <a:p>
            <a:pPr algn="l">
              <a:lnSpc>
                <a:spcPts val="2240"/>
              </a:lnSpc>
            </a:pPr>
            <a:endParaRPr lang="en-US" sz="1600">
              <a:solidFill>
                <a:srgbClr val="54545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74920" y="8613439"/>
            <a:ext cx="6031468" cy="816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 pagamento do salário dos funcionários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ocorrerá no 5º (quinto) dia útil do mês subsequente ao trabalhado.</a:t>
            </a:r>
          </a:p>
          <a:p>
            <a:pPr algn="l">
              <a:lnSpc>
                <a:spcPts val="2240"/>
              </a:lnSpc>
            </a:pPr>
            <a:endParaRPr lang="en-US" sz="1600" b="1">
              <a:solidFill>
                <a:srgbClr val="AD0D3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478053" y="10024205"/>
            <a:ext cx="29776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14</a:t>
            </a:r>
          </a:p>
        </p:txBody>
      </p:sp>
      <p:sp>
        <p:nvSpPr>
          <p:cNvPr id="16" name="AutoShape 16"/>
          <p:cNvSpPr/>
          <p:nvPr/>
        </p:nvSpPr>
        <p:spPr>
          <a:xfrm flipV="1">
            <a:off x="474920" y="9940762"/>
            <a:ext cx="630089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47492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1921" y="-229951"/>
            <a:ext cx="7859942" cy="3352033"/>
            <a:chOff x="0" y="0"/>
            <a:chExt cx="10479923" cy="4469378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t="18024" b="18024"/>
            <a:stretch>
              <a:fillRect/>
            </a:stretch>
          </p:blipFill>
          <p:spPr>
            <a:xfrm>
              <a:off x="0" y="0"/>
              <a:ext cx="10479923" cy="4469378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6965252" y="3122083"/>
            <a:ext cx="3632259" cy="7772812"/>
            <a:chOff x="0" y="0"/>
            <a:chExt cx="1301719" cy="27856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01719" cy="2785601"/>
            </a:xfrm>
            <a:custGeom>
              <a:avLst/>
              <a:gdLst/>
              <a:ahLst/>
              <a:cxnLst/>
              <a:rect l="l" t="t" r="r" b="b"/>
              <a:pathLst>
                <a:path w="1301719" h="2785601">
                  <a:moveTo>
                    <a:pt x="0" y="0"/>
                  </a:moveTo>
                  <a:lnTo>
                    <a:pt x="1301719" y="0"/>
                  </a:lnTo>
                  <a:lnTo>
                    <a:pt x="1301719" y="2785601"/>
                  </a:lnTo>
                  <a:lnTo>
                    <a:pt x="0" y="2785601"/>
                  </a:lnTo>
                  <a:close/>
                </a:path>
              </a:pathLst>
            </a:custGeom>
            <a:solidFill>
              <a:srgbClr val="AD0D3C"/>
            </a:solid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180975"/>
              <a:ext cx="1301719" cy="29665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24133" y="10003938"/>
            <a:ext cx="351683" cy="35168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474920" y="3514068"/>
            <a:ext cx="6300896" cy="597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85"/>
              </a:lnSpc>
              <a:spcBef>
                <a:spcPct val="0"/>
              </a:spcBef>
            </a:pPr>
            <a:r>
              <a:rPr lang="en-US" sz="3489" b="1" spc="-143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VII - Da validade da proposta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4920" y="5201670"/>
            <a:ext cx="6003133" cy="597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1"/>
              </a:lnSpc>
              <a:spcBef>
                <a:spcPct val="0"/>
              </a:spcBef>
            </a:pPr>
            <a:r>
              <a:rPr lang="en-US" sz="3494" b="1" spc="-143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VIII - Considerações Gerais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4920" y="4330012"/>
            <a:ext cx="6031468" cy="816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 prazo de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validade de nossa proposta é de 15 (quinze) dias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a contar da data do envio.</a:t>
            </a:r>
          </a:p>
          <a:p>
            <a:pPr algn="l">
              <a:lnSpc>
                <a:spcPts val="2240"/>
              </a:lnSpc>
            </a:pPr>
            <a:endParaRPr lang="en-US" sz="1600">
              <a:solidFill>
                <a:srgbClr val="54545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74920" y="6017797"/>
            <a:ext cx="6031468" cy="41313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Uma vez que a empresa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JOLOG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seja contemplada nesta concorrência, estaremos disponibilizando nosso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Gerente Operacional 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para acompanhar toda implantação, a fim de mantermos uma 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equipe coesa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até que a mesma esteja bem familiarizada com as</a:t>
            </a: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características das instalações do Condomínio</a:t>
            </a: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, rotinas de trabalho e método de higiene.</a:t>
            </a:r>
          </a:p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Desde já, colocamo-nos a inteira disposição de V.Sas., para quaisquer esclarecimentos que se fizerem necessários e aproveitamos para reiterar nossos votos de estima e consideração.</a:t>
            </a:r>
          </a:p>
          <a:p>
            <a:pPr algn="l">
              <a:lnSpc>
                <a:spcPts val="2240"/>
              </a:lnSpc>
            </a:pPr>
            <a:endParaRPr lang="en-US" sz="1600">
              <a:solidFill>
                <a:srgbClr val="54545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2240"/>
              </a:lnSpc>
            </a:pP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Atenciosamente,</a:t>
            </a:r>
          </a:p>
          <a:p>
            <a:pPr algn="l">
              <a:lnSpc>
                <a:spcPts val="2240"/>
              </a:lnSpc>
            </a:pPr>
            <a:r>
              <a:rPr lang="en-US" sz="1600" b="1">
                <a:solidFill>
                  <a:srgbClr val="AD0D3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Charles Costa</a:t>
            </a:r>
          </a:p>
          <a:p>
            <a:pPr algn="l">
              <a:lnSpc>
                <a:spcPts val="2240"/>
              </a:lnSpc>
            </a:pPr>
            <a:endParaRPr lang="en-US" sz="1600" b="1">
              <a:solidFill>
                <a:srgbClr val="AD0D3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2240"/>
              </a:lnSpc>
            </a:pPr>
            <a:endParaRPr lang="en-US" sz="1600" b="1">
              <a:solidFill>
                <a:srgbClr val="AD0D3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478053" y="10024205"/>
            <a:ext cx="297763" cy="277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8"/>
              </a:lnSpc>
            </a:pPr>
            <a:r>
              <a:rPr lang="en-US" sz="178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15</a:t>
            </a:r>
          </a:p>
        </p:txBody>
      </p:sp>
      <p:sp>
        <p:nvSpPr>
          <p:cNvPr id="15" name="AutoShape 15"/>
          <p:cNvSpPr/>
          <p:nvPr/>
        </p:nvSpPr>
        <p:spPr>
          <a:xfrm flipV="1">
            <a:off x="474920" y="9940762"/>
            <a:ext cx="630089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TextBox 16"/>
          <p:cNvSpPr txBox="1"/>
          <p:nvPr/>
        </p:nvSpPr>
        <p:spPr>
          <a:xfrm>
            <a:off x="474920" y="10005155"/>
            <a:ext cx="1679420" cy="17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Proposta Comercial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6000" y="4508099"/>
            <a:ext cx="6048000" cy="5437426"/>
            <a:chOff x="0" y="0"/>
            <a:chExt cx="8064000" cy="7249901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19852" r="19852"/>
            <a:stretch>
              <a:fillRect/>
            </a:stretch>
          </p:blipFill>
          <p:spPr>
            <a:xfrm>
              <a:off x="0" y="0"/>
              <a:ext cx="8064000" cy="7249901"/>
            </a:xfrm>
            <a:prstGeom prst="rect">
              <a:avLst/>
            </a:prstGeom>
          </p:spPr>
        </p:pic>
      </p:grpSp>
      <p:sp>
        <p:nvSpPr>
          <p:cNvPr id="4" name="AutoShape 4"/>
          <p:cNvSpPr/>
          <p:nvPr/>
        </p:nvSpPr>
        <p:spPr>
          <a:xfrm>
            <a:off x="756000" y="9936000"/>
            <a:ext cx="6019816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-146029" y="2347027"/>
            <a:ext cx="6950029" cy="2193497"/>
            <a:chOff x="0" y="0"/>
            <a:chExt cx="2490733" cy="7861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90733" cy="786100"/>
            </a:xfrm>
            <a:custGeom>
              <a:avLst/>
              <a:gdLst/>
              <a:ahLst/>
              <a:cxnLst/>
              <a:rect l="l" t="t" r="r" b="b"/>
              <a:pathLst>
                <a:path w="2490733" h="786100">
                  <a:moveTo>
                    <a:pt x="0" y="0"/>
                  </a:moveTo>
                  <a:lnTo>
                    <a:pt x="2490733" y="0"/>
                  </a:lnTo>
                  <a:lnTo>
                    <a:pt x="2490733" y="786100"/>
                  </a:lnTo>
                  <a:lnTo>
                    <a:pt x="0" y="786100"/>
                  </a:lnTo>
                  <a:close/>
                </a:path>
              </a:pathLst>
            </a:custGeom>
            <a:solidFill>
              <a:srgbClr val="AD0D3C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2490733" cy="814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46029" y="2236783"/>
            <a:ext cx="6950029" cy="110243"/>
            <a:chOff x="0" y="0"/>
            <a:chExt cx="2490733" cy="3950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90733" cy="39509"/>
            </a:xfrm>
            <a:custGeom>
              <a:avLst/>
              <a:gdLst/>
              <a:ahLst/>
              <a:cxnLst/>
              <a:rect l="l" t="t" r="r" b="b"/>
              <a:pathLst>
                <a:path w="2490733" h="39509">
                  <a:moveTo>
                    <a:pt x="0" y="0"/>
                  </a:moveTo>
                  <a:lnTo>
                    <a:pt x="2490733" y="0"/>
                  </a:lnTo>
                  <a:lnTo>
                    <a:pt x="2490733" y="39509"/>
                  </a:lnTo>
                  <a:lnTo>
                    <a:pt x="0" y="39509"/>
                  </a:lnTo>
                  <a:close/>
                </a:path>
              </a:pathLst>
            </a:custGeom>
            <a:solidFill>
              <a:srgbClr val="B4B4B4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90733" cy="680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756000" y="3661134"/>
            <a:ext cx="369125" cy="369125"/>
          </a:xfrm>
          <a:custGeom>
            <a:avLst/>
            <a:gdLst/>
            <a:ahLst/>
            <a:cxnLst/>
            <a:rect l="l" t="t" r="r" b="b"/>
            <a:pathLst>
              <a:path w="369125" h="369125">
                <a:moveTo>
                  <a:pt x="0" y="0"/>
                </a:moveTo>
                <a:lnTo>
                  <a:pt x="369125" y="0"/>
                </a:lnTo>
                <a:lnTo>
                  <a:pt x="369125" y="369125"/>
                </a:lnTo>
                <a:lnTo>
                  <a:pt x="0" y="369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3932400" y="2886416"/>
            <a:ext cx="369125" cy="369125"/>
            <a:chOff x="0" y="0"/>
            <a:chExt cx="492167" cy="4921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92167" cy="492167"/>
            </a:xfrm>
            <a:custGeom>
              <a:avLst/>
              <a:gdLst/>
              <a:ahLst/>
              <a:cxnLst/>
              <a:rect l="l" t="t" r="r" b="b"/>
              <a:pathLst>
                <a:path w="492167" h="492167">
                  <a:moveTo>
                    <a:pt x="0" y="0"/>
                  </a:moveTo>
                  <a:lnTo>
                    <a:pt x="492167" y="0"/>
                  </a:lnTo>
                  <a:lnTo>
                    <a:pt x="492167" y="492167"/>
                  </a:lnTo>
                  <a:lnTo>
                    <a:pt x="0" y="492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27713" y="116184"/>
              <a:ext cx="236741" cy="259799"/>
            </a:xfrm>
            <a:custGeom>
              <a:avLst/>
              <a:gdLst/>
              <a:ahLst/>
              <a:cxnLst/>
              <a:rect l="l" t="t" r="r" b="b"/>
              <a:pathLst>
                <a:path w="236741" h="259799">
                  <a:moveTo>
                    <a:pt x="0" y="0"/>
                  </a:moveTo>
                  <a:lnTo>
                    <a:pt x="236741" y="0"/>
                  </a:lnTo>
                  <a:lnTo>
                    <a:pt x="236741" y="259799"/>
                  </a:lnTo>
                  <a:lnTo>
                    <a:pt x="0" y="2597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5" name="Freeform 15"/>
          <p:cNvSpPr/>
          <p:nvPr/>
        </p:nvSpPr>
        <p:spPr>
          <a:xfrm>
            <a:off x="3932400" y="3661134"/>
            <a:ext cx="369125" cy="369125"/>
          </a:xfrm>
          <a:custGeom>
            <a:avLst/>
            <a:gdLst/>
            <a:ahLst/>
            <a:cxnLst/>
            <a:rect l="l" t="t" r="r" b="b"/>
            <a:pathLst>
              <a:path w="369125" h="369125">
                <a:moveTo>
                  <a:pt x="0" y="0"/>
                </a:moveTo>
                <a:lnTo>
                  <a:pt x="369125" y="0"/>
                </a:lnTo>
                <a:lnTo>
                  <a:pt x="369125" y="369125"/>
                </a:lnTo>
                <a:lnTo>
                  <a:pt x="0" y="369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756000" y="2842327"/>
            <a:ext cx="369247" cy="369247"/>
            <a:chOff x="0" y="0"/>
            <a:chExt cx="492330" cy="49233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92330" cy="492330"/>
            </a:xfrm>
            <a:custGeom>
              <a:avLst/>
              <a:gdLst/>
              <a:ahLst/>
              <a:cxnLst/>
              <a:rect l="l" t="t" r="r" b="b"/>
              <a:pathLst>
                <a:path w="492330" h="492330">
                  <a:moveTo>
                    <a:pt x="0" y="0"/>
                  </a:moveTo>
                  <a:lnTo>
                    <a:pt x="492330" y="0"/>
                  </a:lnTo>
                  <a:lnTo>
                    <a:pt x="492330" y="492330"/>
                  </a:lnTo>
                  <a:lnTo>
                    <a:pt x="0" y="492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8" name="Freeform 18"/>
            <p:cNvSpPr/>
            <p:nvPr/>
          </p:nvSpPr>
          <p:spPr>
            <a:xfrm>
              <a:off x="109897" y="148904"/>
              <a:ext cx="272535" cy="194522"/>
            </a:xfrm>
            <a:custGeom>
              <a:avLst/>
              <a:gdLst/>
              <a:ahLst/>
              <a:cxnLst/>
              <a:rect l="l" t="t" r="r" b="b"/>
              <a:pathLst>
                <a:path w="272535" h="194522">
                  <a:moveTo>
                    <a:pt x="0" y="0"/>
                  </a:moveTo>
                  <a:lnTo>
                    <a:pt x="272535" y="0"/>
                  </a:lnTo>
                  <a:lnTo>
                    <a:pt x="272535" y="194522"/>
                  </a:lnTo>
                  <a:lnTo>
                    <a:pt x="0" y="1945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9" name="Freeform 19"/>
          <p:cNvSpPr/>
          <p:nvPr/>
        </p:nvSpPr>
        <p:spPr>
          <a:xfrm>
            <a:off x="825307" y="3730441"/>
            <a:ext cx="230512" cy="230512"/>
          </a:xfrm>
          <a:custGeom>
            <a:avLst/>
            <a:gdLst/>
            <a:ahLst/>
            <a:cxnLst/>
            <a:rect l="l" t="t" r="r" b="b"/>
            <a:pathLst>
              <a:path w="230512" h="230512">
                <a:moveTo>
                  <a:pt x="0" y="0"/>
                </a:moveTo>
                <a:lnTo>
                  <a:pt x="230511" y="0"/>
                </a:lnTo>
                <a:lnTo>
                  <a:pt x="230511" y="230511"/>
                </a:lnTo>
                <a:lnTo>
                  <a:pt x="0" y="2305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5711920" y="900000"/>
            <a:ext cx="1063896" cy="844362"/>
          </a:xfrm>
          <a:custGeom>
            <a:avLst/>
            <a:gdLst/>
            <a:ahLst/>
            <a:cxnLst/>
            <a:rect l="l" t="t" r="r" b="b"/>
            <a:pathLst>
              <a:path w="1063896" h="844362">
                <a:moveTo>
                  <a:pt x="0" y="0"/>
                </a:moveTo>
                <a:lnTo>
                  <a:pt x="1063896" y="0"/>
                </a:lnTo>
                <a:lnTo>
                  <a:pt x="1063896" y="844362"/>
                </a:lnTo>
                <a:lnTo>
                  <a:pt x="0" y="8443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4050925" y="3750609"/>
            <a:ext cx="134233" cy="182291"/>
          </a:xfrm>
          <a:custGeom>
            <a:avLst/>
            <a:gdLst/>
            <a:ahLst/>
            <a:cxnLst/>
            <a:rect l="l" t="t" r="r" b="b"/>
            <a:pathLst>
              <a:path w="134233" h="182291">
                <a:moveTo>
                  <a:pt x="0" y="0"/>
                </a:moveTo>
                <a:lnTo>
                  <a:pt x="134232" y="0"/>
                </a:lnTo>
                <a:lnTo>
                  <a:pt x="134232" y="182291"/>
                </a:lnTo>
                <a:lnTo>
                  <a:pt x="0" y="1822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684000" y="643351"/>
            <a:ext cx="5779088" cy="858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48"/>
              </a:lnSpc>
            </a:pPr>
            <a:r>
              <a:rPr lang="en-US" sz="6296" b="1">
                <a:solidFill>
                  <a:srgbClr val="AD0D3C"/>
                </a:solidFill>
                <a:latin typeface="Garet Bold"/>
                <a:ea typeface="Garet Bold"/>
                <a:cs typeface="Garet Bold"/>
                <a:sym typeface="Garet Bold"/>
              </a:rPr>
              <a:t>Obrigado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6000" y="1559486"/>
            <a:ext cx="5779088" cy="426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24"/>
              </a:lnSpc>
            </a:pPr>
            <a:r>
              <a:rPr lang="en-US" sz="3196">
                <a:solidFill>
                  <a:srgbClr val="AD0D3C"/>
                </a:solidFill>
                <a:latin typeface="Garet"/>
                <a:ea typeface="Garet"/>
                <a:cs typeface="Garet"/>
                <a:sym typeface="Garet"/>
              </a:rPr>
              <a:t>Entre em contato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451529" y="2867366"/>
            <a:ext cx="1792339" cy="424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  <a:spcBef>
                <a:spcPct val="0"/>
              </a:spcBef>
            </a:pPr>
            <a:r>
              <a:rPr lang="en-US" sz="127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(21) 96564-2413 </a:t>
            </a:r>
          </a:p>
          <a:p>
            <a:pPr algn="l">
              <a:lnSpc>
                <a:spcPts val="1784"/>
              </a:lnSpc>
              <a:spcBef>
                <a:spcPct val="0"/>
              </a:spcBef>
            </a:pPr>
            <a:r>
              <a:rPr lang="en-US" sz="127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(21) 3268-2822  (sede)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451529" y="3642084"/>
            <a:ext cx="1501882" cy="424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Rua Bamboré, 150,</a:t>
            </a:r>
          </a:p>
          <a:p>
            <a:pPr algn="l">
              <a:lnSpc>
                <a:spcPts val="1784"/>
              </a:lnSpc>
              <a:spcBef>
                <a:spcPct val="0"/>
              </a:spcBef>
            </a:pPr>
            <a:r>
              <a:rPr lang="en-US" sz="127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Rio de Janeiro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75129" y="3731559"/>
            <a:ext cx="2504871" cy="20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  <a:spcBef>
                <a:spcPct val="0"/>
              </a:spcBef>
            </a:pPr>
            <a:r>
              <a:rPr lang="en-US" sz="127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www.grupojolog.com.br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7783" y="2907260"/>
            <a:ext cx="2572217" cy="20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784"/>
              </a:lnSpc>
              <a:spcBef>
                <a:spcPct val="0"/>
              </a:spcBef>
            </a:pPr>
            <a:r>
              <a:rPr lang="en-US" sz="127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sup</a:t>
            </a:r>
            <a:r>
              <a:rPr lang="en-US" sz="1274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ervisao@grupojolog.combr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1175</Words>
  <Application>Microsoft Office PowerPoint</Application>
  <PresentationFormat>Custom</PresentationFormat>
  <Paragraphs>121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Montserrat</vt:lpstr>
      <vt:lpstr>Open Sauce Bold</vt:lpstr>
      <vt:lpstr>Calibri</vt:lpstr>
      <vt:lpstr>Arial</vt:lpstr>
      <vt:lpstr>Montserrat Bold</vt:lpstr>
      <vt:lpstr>Garet</vt:lpstr>
      <vt:lpstr>Open Sauce</vt:lpstr>
      <vt:lpstr>Garet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comercial Jolog(21)</dc:title>
  <cp:lastModifiedBy>Victor Barros</cp:lastModifiedBy>
  <cp:revision>2</cp:revision>
  <dcterms:created xsi:type="dcterms:W3CDTF">2006-08-16T00:00:00Z</dcterms:created>
  <dcterms:modified xsi:type="dcterms:W3CDTF">2026-08-20T15:36:11Z</dcterms:modified>
  <dc:identifier>DAHFhHDH9xE</dc:identifier>
</cp:coreProperties>
</file>